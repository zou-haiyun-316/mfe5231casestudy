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18288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3160" y="1097280"/>
            <a:ext cx="9326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TeleTech Corporation, 2005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1920240"/>
            <a:ext cx="9326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ED7D31"/>
                </a:solidFill>
              </a:rPr>
              <a:t>Risk-Adjusted Hurdle Rates &amp; Capital Allocation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834640"/>
            <a:ext cx="1133856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9718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EEBF7"/>
                </a:solidFill>
              </a:rPr>
              <a:t>Group 4:  Rangxila GONG  |  Huihui LIU  |  Yin PANG  |  Haiyun ZOU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290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MFE 5231 Financial Management  •  2nd Term 2025-2026  •  CUHK (Shenzhen)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840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Instructor: Prof. Joseph Cheng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754880"/>
            <a:ext cx="1828800" cy="164592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40" y="4754880"/>
            <a:ext cx="1828800" cy="164592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754880"/>
            <a:ext cx="1828800" cy="164592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59" y="4754880"/>
            <a:ext cx="1828800" cy="164592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19" y="4754880"/>
            <a:ext cx="1828800" cy="164592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41280" y="4754880"/>
            <a:ext cx="1828800" cy="164592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Presentation to Prof. Joseph Cheng  |  Week 14/15, April-May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61872"/>
            <a:ext cx="822960" cy="42976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126187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31673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Company Overview &amp; The Core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822960" cy="42976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82880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181051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186537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Conceptual Framework: WACC &amp; Risk-Adjusted Rates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59152"/>
            <a:ext cx="822960" cy="4297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37744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34440" y="235915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41401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Beta Calculation: Unlever &amp; Re-lever (Telecom)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907791"/>
            <a:ext cx="822960" cy="4297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926079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2907791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296265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Beta Calculation: Unlever &amp; Re-lever (P&amp;S)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56432"/>
            <a:ext cx="822960" cy="4297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47472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34440" y="345643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351129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Segment WACC Summary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005072"/>
            <a:ext cx="822960" cy="429768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023359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4440" y="400507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0" y="4059935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Constant vs. Risk-Adjusted Hurdle Rate (Q.a)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553712"/>
            <a:ext cx="822960" cy="429768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571999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440" y="455371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0" y="4608575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EVA Analysis: Value Creation by Segment (Q.c)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102352"/>
            <a:ext cx="822960" cy="4297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12064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34440" y="510235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71600" y="515721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Implementation Barriers (Q.d)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650992"/>
            <a:ext cx="822960" cy="4297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669279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440" y="565099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71600" y="5705855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Conclusion &amp; Recommendations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Company Overview: TeleTech Corporation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Two fundamentally different business segments — one single hurdle rate (9.30%)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539496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8930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Telecommunications Services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37360"/>
            <a:ext cx="5394960" cy="301752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01368"/>
            <a:ext cx="512064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Revenue (FY2004):    ~$9.6 billion  (73% of total)
Business Type:       Regulated utility-like carrier
Cash Flow Profile:   Stable, predictable
ROIC (FY2004):       9.63%
Current Hurdle Rate: 9.30%  (corporate-wide)
Spread vs. Hurdle:   +0.33%  (appears value-creating)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28930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Products &amp; Systems (P&amp;S)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301752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801368"/>
            <a:ext cx="516636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Revenue (FY2004):    ~$3.5 billion  (27% of total)
Business Type:       Technology &amp; manufacturing
Cash Flow Profile:   Cyclical, competitive
ROIC (FY2004):       8.84%
Current Hurdle Rate: 9.30%  (corporate-wide)
Spread vs. Hurdle:   −0.46%  (appears slightly bad)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937760"/>
            <a:ext cx="11338560" cy="118872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4937760"/>
            <a:ext cx="109728" cy="1188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9834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</a:rPr>
              <a:t>The Core Problem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30952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TeleTech applies ONE corporate hurdle rate (9.30%) to BOTH segments despite their fundamentally different risk profiles.
→  This creates a 'cross-subsidy': capital flows from value-creating Telecom to value-destroying P&amp;S.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Conceptual Framework: Cost of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Chapter 14: WACC | Chapter 11: Capital Budgeting NPV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61872"/>
            <a:ext cx="11338560" cy="77724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B3A6B"/>
                </a:solidFill>
              </a:rPr>
              <a:t>WACC  =  (E/V) × rₑ  +  (D/V) × r_d × (1 − 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194560"/>
            <a:ext cx="3749039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194560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Cost of Equity (CAPM)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578608"/>
            <a:ext cx="3749039" cy="1737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33472"/>
            <a:ext cx="35661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rₑ = r_f + β_L × MRP
r_f  = Risk-free rate (10yr T-Bond)
MRP = Market Risk Premium
β_L  = Levered Beta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194560"/>
            <a:ext cx="3749039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2194560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Beta Adjustment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578608"/>
            <a:ext cx="3749039" cy="1737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633472"/>
            <a:ext cx="35661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β_U = β_L / [1 + (1−t)(D/E)]
   ← Unlever (remove leverage)
β_L* = β_U × [1 + (1−t)(D/E)*]
   ← Re-lever (target structure)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19" y="2194560"/>
            <a:ext cx="3749039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2194560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Cost of Debt (After-tax)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19" y="2578608"/>
            <a:ext cx="3749039" cy="1737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2633472"/>
            <a:ext cx="35661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After-tax cost = r_d × (1 − t)
Debt is tax-deductible → government
shares in cost of debt
→ Use after-tax rate in WACC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480560"/>
            <a:ext cx="5394960" cy="164592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480560"/>
            <a:ext cx="109728" cy="1645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5262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</a:rPr>
              <a:t>Key Parameters (This Case)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873752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r_f  = 4.62%  (10-year U.S. Treasury, 2005)
MRP  = 5.50%  (standard U.S. equity risk premium)
t    = 40%    (marginal corporate tax rate)
(1−t) = 0.60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4480560"/>
            <a:ext cx="5715000" cy="164592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5040" y="4480560"/>
            <a:ext cx="109728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452628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</a:rPr>
              <a:t>Purpose of WACC (Chapter 14)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873752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• Determine desirability of a project
• Enable resource allocation between divisions
• Measure performance &amp; align incentives
→ A blended WACC FAILS when segments have
  different risk profiles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Step-by-Step WACC: Telecom Services 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Comparable firms: BellSouth | SBC Communications | Verizon | Sprint Nextel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298448"/>
          <a:ext cx="114300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Levered β_L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D/V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E/V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D/E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β_U = β_L ÷ [1+0.60×(D/E)]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BellSouth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31.1%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68.9%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0.4514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0.80 ÷ 1.2708 = 0.630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SBC 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28.3%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71.7%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0.3948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0.75 ÷ 1.2369 = 0.606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Verizon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62.1%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0.6103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0.90 ÷ 1.3662 = 0.653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Sprint Nextel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64.9%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0.5408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0.85 ÷ 1.3245 = 0.642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Average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0.825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33.1%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66.9%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0.4943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→  β_U (avg) = 0.632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3611880"/>
            <a:ext cx="2286000" cy="65836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3630168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Re-lever Beta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611880"/>
            <a:ext cx="91440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3703320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β_L (Telecom) = 0.632 × [1 + 0.60 × 0.4943] = 0.632 × 1.2966 = 0.820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416552"/>
            <a:ext cx="2286000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Cost of Equity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4416552"/>
            <a:ext cx="91440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507992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rₑ = 4.62% + 0.820 × 5.50% = 4.62% + 4.51% = 9.13%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21224"/>
            <a:ext cx="2286000" cy="658368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523951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WACC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5221224"/>
            <a:ext cx="91440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12664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= 0.669 × 9.13% + 0.331 × 5.74% × 0.60  =  6.11% + 1.14%  =  7.25%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108192"/>
            <a:ext cx="11430000" cy="54864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1539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Telecom Services WACC  =  7.25%   (r_d = 5.74%  →  after-tax = 3.44%)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Step-by-Step WACC: Products &amp; Systems 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Comparable firms: Motorola | Lucent Technologies | Nortel Networks | EDS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298448"/>
          <a:ext cx="114300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Levered β_L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D/V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E/V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D/E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β_U = β_L ÷ [1+0.60×(D/E)]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Motorola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19.6%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80.4%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0.2438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1.60 ÷ 1.1463 = 1.396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Lucent Technologies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69.0%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0.4493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1.75 ÷ 1.2696 = 1.379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Nortel Networks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28.0%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72.0%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0.3889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1.85 ÷ 1.2333 = 1.500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22.5%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77.5%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0.2903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1.45 ÷ 1.1742 = 1.235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Average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1.6625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25.3%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74.7%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0.3388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→  β_U (avg) = 1.377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3611880"/>
            <a:ext cx="228600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3630168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Re-lever Beta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611880"/>
            <a:ext cx="91440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3703320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β_L (P&amp;S)  = 1.377 × [1 + 0.60 × 0.3388] = 1.377 × 1.2033 = 1.657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416552"/>
            <a:ext cx="2286000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Cost of Equity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4416552"/>
            <a:ext cx="91440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507992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rₑ = 4.62% + 1.657 × 5.50% = 4.62% + 9.11% = 13.73%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21224"/>
            <a:ext cx="2286000" cy="6583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523951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WACC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5221224"/>
            <a:ext cx="91440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12664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= 0.747 × 13.73% + 0.253 × 6.30% × 0.60  =  10.26% + 0.96%  =  11.22%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108192"/>
            <a:ext cx="11430000" cy="548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1539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Products &amp; Systems WACC  =  11.22%   (r_d = 6.30%  →  after-tax = 3.78%)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Segment WACC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Risk-adjusted rates reveal what the blended 9.30% rate conceals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261872"/>
          <a:ext cx="1143000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Telecom Services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Products &amp; Systems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Corporate Blended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Avg. Unlevered Beta (β_U)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0.632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1.377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Target D/E Ratio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0.494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~0.43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Re-levered Beta (β_L)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0.820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1.657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~1.04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Cost of Equity (rₑ)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9.13%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13.73%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~10.3%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After-tax Cost of Debt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3.44%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3.78%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~3.6%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Equity Weight (E/V)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66.9%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74.7%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Debt Weight (D/V)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33.1%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25.3%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~30%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WACC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7.25%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11.22%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ROIC (FY2004)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9.63%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8.84%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~9.40%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</a:tr>
              <a:tr h="3699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Spread (ROIC − WACC)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+2.38%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−2.38% 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+0.10%  (misleading)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458968"/>
            <a:ext cx="11430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522976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Key Insight: The blended 9.30% shows Telecom at +0.33% and P&amp;S at −0.46% — both look marginal.
Risk-adjusted rates reveal the TRUTH: Telecom = +2.38% spread, P&amp;S = −2.38% spread. A 4% chasm.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Q.a: Impact of Constant vs. Risk-Adjusted Hurdle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Uniform rate creates two types of decision errors — Chapter 11 Capital Budgeting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539496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61872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Constant Hurdle Rate  (9.30%)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700784"/>
          <a:ext cx="53949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1078992"/>
                <a:gridCol w="1078992"/>
                <a:gridCol w="1078992"/>
                <a:gridCol w="1078992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ROIC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Hurdle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Reality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Telecom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9.63%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ACCEPT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Undervalued!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P&amp;S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8.84%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REJECT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Wrong signal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65760" y="3246120"/>
            <a:ext cx="5394960" cy="164592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246120"/>
            <a:ext cx="109728" cy="1645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918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</a:rPr>
              <a:t>Decision Errors: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39312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Telecom projects (IRR 7.25%–9.30%) are REJECTED
  even though they create value  →  Type I Error
  [Misallocated zone: 2.05 ppt wide!]
• P&amp;S projects (IRR 9.30%–11.22%) are ACCEPTED
  even though they destroy value  →  Type II 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261872"/>
            <a:ext cx="5486400" cy="438912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261872"/>
            <a:ext cx="5486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Risk-Adjusted Hurdle Rate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09360" y="1700784"/>
          <a:ext cx="54864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ROIC</a:t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WACC</a:t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EVA Spread</a:t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Telecom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9.63%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7.25%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+2.38%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INVEST MORE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P&amp;S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8.84%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11.22%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−2.38%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RESTRUCTURE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6309360" y="3246120"/>
            <a:ext cx="5486400" cy="1645920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3246120"/>
            <a:ext cx="109728" cy="164592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2918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78644"/>
                </a:solidFill>
              </a:rPr>
              <a:t>Correct Capital Allocation: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39312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Each segment faces its OWN cost of capital
• Telecom receives MORE capital: strong +2.38% EVA
• P&amp;S receives LESS: −2.38% EVA = value destroyer
• Eliminates the 2 ppt+ cross-subsidy zone
• Management incentives align with true risk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74920"/>
            <a:ext cx="11430000" cy="109728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5074920"/>
            <a:ext cx="109728" cy="10972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1206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Resource Allocation Implication (Q.a)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6811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The uniform rate systematically starves Telecom (true WACC only 7.25%, but faces a 9.30% hurdle) while over-funding P&amp;S (true WACC 11.22%, but faces only a 9.30% hurdle).
Conclusion: Risk-adjusted hurdle rates are the ONLY correct basis for multi-segment capital allocation.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Q.c: EVA Analysis — Has P&amp;S Destroyed Value?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EVA = (ROIC − WACC_segment) × Invested Capital  |  NPV-equivalent for ongoing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11430000" cy="658368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1B3A6B"/>
                </a:solidFill>
              </a:rPr>
              <a:t>EVA  =  (ROIC  −  WACC_segment)  ×  Invested Capital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03120"/>
            <a:ext cx="5394960" cy="2926080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103120"/>
            <a:ext cx="5394960" cy="45720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11226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Telecom Services  —  VALUE CREATOR  ✓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2560320"/>
          <a:ext cx="53949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ROIC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9.63%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Segment WACC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7.25%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Spread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+2.38%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Invested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$8,760M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Annual EVA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+$208.5M 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309360" y="2103120"/>
            <a:ext cx="5486400" cy="292608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10312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11226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Products &amp; Systems  —  VALUE DESTROYER  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09360" y="256032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ROIC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8.84%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Segment WACC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11.22%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Spread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−2.38%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Invested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$3,240M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Annual EVA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−$77.1M  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365760" y="5193792"/>
            <a:ext cx="1143000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239512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Net Annual EVA:  +$208.5M  −  $77.1M  =  +$131.4M  (firm IS a net value creator — but P&amp;S is a $77M drag)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879592"/>
            <a:ext cx="11430000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90702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0000"/>
                </a:solidFill>
              </a:rPr>
              <a:t>Critical finding: P&amp;S has ALREADY been destroying $77.1M/year. The uniform rate hides this by making both segments appear nearly equivalent in performance.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Q.c: Should TeleTech Implement Risk-Adjusted Hurdle Rates?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The financial case is unambiguous — the uniform rate misleads on both segments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5394960" cy="41148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What Uniform Rate Tells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73352"/>
            <a:ext cx="539496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51663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Telecom spread:   +0.33%  ← small value creator
P&amp;S spread:       −0.46%  ← marginal problem
Net firm spread:  +0.10%  ← 'roughly OK'
→ Management perceives: minor issue in P&amp;S,
  firm is essentially healthy.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261872"/>
            <a:ext cx="5486400" cy="41148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26187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What Risk-Adjusted Rates Reveal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673352"/>
            <a:ext cx="5486400" cy="1828800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737360"/>
            <a:ext cx="5257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Telecom spread:   +2.38%  ← strong value creator
P&amp;S spread:       −2.38%  ← massive value destroyer
Net firm EVA:     +$131.4M/yr  — BUT P&amp;S destroys
                  $77.1M every single year
→ Telecom is a star; P&amp;S must be restructured.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11430000" cy="411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Why Implementing Risk-Adjusted Rates Creates (Not Destroys) Value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548640" cy="5303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197096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160520"/>
            <a:ext cx="10972800" cy="53035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215383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Stop accepting bad P&amp;S projects:  P&amp;S projects with IRR between 9.30% and 11.22% are currently ACCEPTED but destroy value. Higher hurdle rate correctly rejects them — saving $77M+/yr.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00600"/>
            <a:ext cx="548640" cy="5303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837176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800600"/>
            <a:ext cx="1097280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855464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Unlock good Telecom projects:  Telecom projects with IRR between 7.25% and 9.30% are currently REJECTED. A 7.25% Telecom hurdle correctly approves these — potentially $208M+ of additional EVA.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440679"/>
            <a:ext cx="548640" cy="5303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5477255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440679"/>
            <a:ext cx="10972800" cy="53035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5495543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Correct strategic signaling:  Management finally sees the truth: redirect capital toward Telecom (the actual value engine) and away from P&amp;S (the value drain).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Q.d: Barriers to Implementing Risk-Adjusted Hurdle 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Four categories of friction — must be managed proactively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1143000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8930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01  Political &amp; Organizational Resistance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19"/>
            <a:ext cx="1143000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91639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P&amp;S managers resist: new WACC 11.22% vs old 9.30% — harder to justify projects
• Board uncomfortable acknowledging past capital misallocation was systematic
• Divisions 'game' comparable firm selection to minimize their hurdle rate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496312"/>
            <a:ext cx="1143000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2374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02  Technical &amp; Analytical Challenges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80360"/>
            <a:ext cx="1143000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92608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Beta estimation is noisy — peer group, time period affect results significantly
• No single 'correct' set of comparable firms; selection is inherently subjective
• Corporate debt raised centrally; segment-level allocation requires judgment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30752"/>
            <a:ext cx="11430000" cy="384048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5818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03  Incentive &amp; Compensation Misalignment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14800"/>
            <a:ext cx="1143000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16052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Bonus systems still calibrated to 9.30% → behavioral change lags structural change
• Higher P&amp;S hurdle may trigger short-term R&amp;D cuts to boost near-term ROIC
• Managers optimize for visible metrics even if they conflict with true value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965192"/>
            <a:ext cx="11430000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99262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04  Organizational Learning Curve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49240"/>
            <a:ext cx="1143000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39496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Every BU finance team needs education: why does my segment face a different rate?
• Capital budgeting systems, dashboards, approval templates all need recalibration
• Segment WACCs require annual update as betas and market conditions change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Sensitivity Analysis: WACC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Qualitative conclusion holds across all reasonable MRP 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11430000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930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Telecom and P&amp;S WACC under different Market Risk Premium (MRP)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691640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/>
                <a:gridCol w="1428750"/>
                <a:gridCol w="1428750"/>
                <a:gridCol w="1428750"/>
                <a:gridCol w="1428750"/>
                <a:gridCol w="1428750"/>
                <a:gridCol w="1428750"/>
                <a:gridCol w="1428750"/>
              </a:tblGrid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MRP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Telecom β_L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Telecom rₑ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Telecom WACC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P&amp;S β_L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P&amp;S rₑ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P&amp;S WACC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4.5%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0.820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8.31%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6.55%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1.657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12.08%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10.38%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3.83%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0.820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8.72%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6.91%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1.657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12.91%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10.80%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3.89%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5.5%  ← Base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0.820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9.13%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7.25%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1.657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13.73%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11.22%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3.97%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0.820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9.54%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7.60%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1.657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14.56%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11.64%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4.04%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7.0%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0.820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10.36%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8.28%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1.657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16.22%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12.48%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4.20%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65760" y="4297680"/>
            <a:ext cx="11430000" cy="68580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352544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3A6B"/>
                </a:solidFill>
              </a:rPr>
              <a:t>P&amp;S ROIC of 8.84% falls BELOW P&amp;S WACC under EVERY MRP assumption shown above.
Telecom ROIC of 9.63% EXCEEDS Telecom WACC under every assumption.
→ The qualitative conclusion is robust: P&amp;S destroys value; Telecom creates value.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120640"/>
            <a:ext cx="11430000" cy="64008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09728" cy="6400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16636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Important: The blended 9.30% WACC implies only ±0.33%/−0.46% spreads.
Risk-adjusted rates reveal spreads of ±2.38% — nearly 7× larger. The uniform rate is not just directionally wrong; it severely underestimates the magnitudes.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5870448"/>
            <a:ext cx="11430000" cy="438912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5870448"/>
            <a:ext cx="109728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907024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Chapter 15 insight: Stable Telecom (D/V=33.1%) supports more debt than cyclical P&amp;S (D/V=25.3%). This reflects the moderate capital structure position — riskier businesses optimally use less leverage.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 &amp;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68680"/>
            <a:ext cx="11338560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05840"/>
          <a:ext cx="113385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46634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Implication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a. Hurdle Rate Choice</a:t>
                      </a:r>
                    </a:p>
                  </a:txBody>
                  <a:tcPr>
                    <a:solidFill>
                      <a:srgbClr val="1F46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Uniform 9.30% creates Type I/II errors; misallocated zone = 2+ ppt in Telecom</a:t>
                      </a:r>
                    </a:p>
                  </a:txBody>
                  <a:tcPr>
                    <a:solidFill>
                      <a:srgbClr val="1F46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Risk-adjusted rates are the ONLY correct approach</a:t>
                      </a:r>
                    </a:p>
                  </a:txBody>
                  <a:tcPr>
                    <a:solidFill>
                      <a:srgbClr val="1F467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b. Segment WACC</a:t>
                      </a:r>
                    </a:p>
                  </a:txBody>
                  <a:tcPr>
                    <a:solidFill>
                      <a:srgbClr val="2452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Telecom: 7.25%  |  P&amp;S: 11.22%</a:t>
                      </a:r>
                    </a:p>
                  </a:txBody>
                  <a:tcPr>
                    <a:solidFill>
                      <a:srgbClr val="2452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Corporate 9.30% masks a 3.97 ppt gap</a:t>
                      </a:r>
                    </a:p>
                  </a:txBody>
                  <a:tcPr>
                    <a:solidFill>
                      <a:srgbClr val="24528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c. Value Creation</a:t>
                      </a:r>
                    </a:p>
                  </a:txBody>
                  <a:tcPr>
                    <a:solidFill>
                      <a:srgbClr val="1F46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P&amp;S: −$77.1M/yr EVA  |  Telecom: +$208.5M/yr</a:t>
                      </a:r>
                    </a:p>
                  </a:txBody>
                  <a:tcPr>
                    <a:solidFill>
                      <a:srgbClr val="1F46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Implement risk-adjusted rates; restructure P&amp;S</a:t>
                      </a:r>
                    </a:p>
                  </a:txBody>
                  <a:tcPr>
                    <a:solidFill>
                      <a:srgbClr val="1F467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d. Barriers</a:t>
                      </a:r>
                    </a:p>
                  </a:txBody>
                  <a:tcPr>
                    <a:solidFill>
                      <a:srgbClr val="2452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Political, technical, incentive, learning</a:t>
                      </a:r>
                    </a:p>
                  </a:txBody>
                  <a:tcPr>
                    <a:solidFill>
                      <a:srgbClr val="2452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Manage proactively — don't let barriers block change</a:t>
                      </a:r>
                    </a:p>
                  </a:txBody>
                  <a:tcPr>
                    <a:solidFill>
                      <a:srgbClr val="24528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3493008"/>
            <a:ext cx="1133856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Action 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155448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950207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Immediate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65960" y="3931920"/>
            <a:ext cx="8686800" cy="457200"/>
          </a:xfrm>
          <a:prstGeom prst="rect">
            <a:avLst/>
          </a:prstGeom>
          <a:solidFill>
            <a:srgbClr val="1F4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3986783"/>
            <a:ext cx="8549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EEBF7"/>
                </a:solidFill>
              </a:rPr>
              <a:t>Adopt risk-adjusted hurdle rates: Telecom 7.25%, P&amp;S 11.22%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52760" y="3931920"/>
            <a:ext cx="1097280" cy="45720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52760" y="3986783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C000"/>
                </a:solidFill>
              </a:rPr>
              <a:t>Q1 2006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462272"/>
            <a:ext cx="155448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480559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Short-term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65960" y="4462272"/>
            <a:ext cx="8686800" cy="457200"/>
          </a:xfrm>
          <a:prstGeom prst="rect">
            <a:avLst/>
          </a:prstGeom>
          <a:solidFill>
            <a:srgbClr val="1F4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0" y="4517136"/>
            <a:ext cx="8549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EEBF7"/>
                </a:solidFill>
              </a:rPr>
              <a:t>Recalibrate compensation to EVA benchmarks using segment WACCs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52760" y="4462272"/>
            <a:ext cx="1097280" cy="45720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52760" y="4517136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C000"/>
                </a:solidFill>
              </a:rPr>
              <a:t>Q2 2006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992624"/>
            <a:ext cx="1554480" cy="45720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01091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Medium-term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65960" y="4992624"/>
            <a:ext cx="8686800" cy="457200"/>
          </a:xfrm>
          <a:prstGeom prst="rect">
            <a:avLst/>
          </a:prstGeom>
          <a:solidFill>
            <a:srgbClr val="1F4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0" y="5047488"/>
            <a:ext cx="8549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EEBF7"/>
                </a:solidFill>
              </a:rPr>
              <a:t>Strategic review of P&amp;S: restructure, divest, or set turnaround targets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52760" y="4992624"/>
            <a:ext cx="1097280" cy="45720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52760" y="504748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C000"/>
                </a:solidFill>
              </a:rPr>
              <a:t>2006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522975"/>
            <a:ext cx="1554480" cy="457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541263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Ongoing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65960" y="5522975"/>
            <a:ext cx="8686800" cy="457200"/>
          </a:xfrm>
          <a:prstGeom prst="rect">
            <a:avLst/>
          </a:prstGeom>
          <a:solidFill>
            <a:srgbClr val="1F4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03120" y="5577839"/>
            <a:ext cx="8549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EEBF7"/>
                </a:solidFill>
              </a:rPr>
              <a:t>Annual update of segment betas and comparable firm capital structures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52760" y="5522975"/>
            <a:ext cx="1097280" cy="45720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52760" y="5577839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C000"/>
                </a:solidFill>
              </a:rPr>
              <a:t>Annual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ED7D31"/>
                </a:solidFill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4389120"/>
            <a:ext cx="758952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46177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BF7"/>
                </a:solidFill>
              </a:rPr>
              <a:t>Group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DEEBF7"/>
                </a:solidFill>
              </a:rPr>
              <a:t>Rangxila GONG  |  Huihui LIU  |  Yin PANG  |  Haiyun ZOU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DD7EE"/>
                </a:solidFill>
              </a:rPr>
              <a:t>MFE 5231 Financial Management  •  CUHK (Shenzhen)  • 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