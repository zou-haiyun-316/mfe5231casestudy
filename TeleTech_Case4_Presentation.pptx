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88952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88952" cy="640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94360"/>
            <a:ext cx="1036015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TeleTech Corporation, 2005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60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8C00"/>
                </a:solidFill>
              </a:rPr>
              <a:t>Risk-Adjusted Hurdle Rates &amp; Value Creation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MFE 5231 Financial Management  |  Case 4  |  Group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2F2F2"/>
                </a:solidFill>
              </a:rPr>
              <a:t>Rangxila GONG  |  Huihui LIU  |  Haiyun ZOU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2F2"/>
                </a:solidFill>
              </a:rPr>
              <a:t>CUHK(Shenzhen)  |  2025–2026 Term 2  |  Instructor: Prof. Joseph Cheng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2F2F2"/>
                </a:solidFill>
              </a:rPr>
              <a:t>UV1375  ·  University of Virginia Darden School Foundation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94360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447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3258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3624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916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Company background, the Yossarian challenge, and questions to address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594360" cy="685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2402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768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</a:rPr>
              <a:t>Problem Identification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6060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Why a single hurdle rate fails when segments differ in risk (Q.a)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54680"/>
            <a:ext cx="594360" cy="6858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735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1546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31912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5204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How to estimate segment-specific WACCs using Exhibit 3 comparables (Q.b approach)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69080"/>
            <a:ext cx="594360" cy="6858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1879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0690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41056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78644"/>
                </a:solidFill>
              </a:rPr>
              <a:t>Solution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4348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Segment WACC results, decision-error analysis, EVA findings (Q.b, Q.a, Q.c)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983480"/>
            <a:ext cx="594360" cy="6858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102352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4983480"/>
            <a:ext cx="107899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02005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C00"/>
                </a:solidFill>
              </a:rPr>
              <a:t>Conclusion &amp; Recommendations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534924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050"/>
                </a:solidFill>
              </a:rPr>
              <a:t>Action plan, response to Yossarian, implementation barriers (Q.c, Q.d)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Introduction — TeleTech Corporation &amp; the Yossarian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Dallas, TX  |  Large regional telecom  |  October 2005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 Introduction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5760720" cy="33832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4173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Telecom Services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391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39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Regulated telecom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24328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NOPAT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$1.18B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82696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3558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Capital (book value)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3558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$11.4B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941064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1421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ROC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01421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9.10%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1417320"/>
            <a:ext cx="5760720" cy="33832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59" y="141732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Products &amp; Systems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799" y="1965960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03911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Nature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2039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Technology manufacturing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799" y="2624328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697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NOPAT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59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$480M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799" y="3282696"/>
            <a:ext cx="557784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3558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Capital (book value)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3558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$4.6B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799" y="3941064"/>
            <a:ext cx="5577840" cy="594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01421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2004 ROC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59" y="401421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F3964"/>
                </a:solidFill>
              </a:rPr>
              <a:t>11.00%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892040"/>
            <a:ext cx="11612880" cy="141732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95604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The Challenge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28523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Victor Yossarian (10% shareholder, Oct 2005): "The firm is misusing its resources. Sell the P&amp;S segment and focus on telecom."
CFO Margaret Weston must respond — and must determine the correct hurdle rates for each segment.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Problem — The Single Hurdle Rate Creates Systematic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TeleTech applies one 9.30% WACC to all segments — but segments have very different risks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2. Problem Identification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4114800" cy="32004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8C00"/>
                </a:solidFill>
              </a:rPr>
              <a:t>Corporate WACC = 9.30%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β (equity)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659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1.15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3134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r_f (30yr Tsy)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313432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4.62%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6090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MRP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66090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5.50%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00837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Cost of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00837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10.95%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35584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Cost of debt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5584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5.88% (A-/BBB+)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37033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D/V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70332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22.2%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050791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E/V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050791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8C00"/>
                </a:solidFill>
              </a:rPr>
              <a:t>77.8%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964"/>
                </a:solidFill>
              </a:rPr>
              <a:t>Applied to ALL projects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24688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F3964"/>
                </a:solidFill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3017520"/>
            <a:ext cx="3200400" cy="1463040"/>
          </a:xfrm>
          <a:prstGeom prst="rect">
            <a:avLst/>
          </a:prstGeom>
          <a:solidFill>
            <a:srgbClr val="E2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0632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Telecom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3456432"/>
            <a:ext cx="3108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ROC 9.10% &lt; 9.30%
→ Appears to LOSE value
→ Capital rationed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3017520"/>
            <a:ext cx="3840480" cy="1463040"/>
          </a:xfrm>
          <a:prstGeom prst="rect">
            <a:avLst/>
          </a:prstGeom>
          <a:solidFill>
            <a:srgbClr val="FF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92440" y="30632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Products &amp; Systems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3456432"/>
            <a:ext cx="374903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ROC 11.00% &gt; 9.30%
→ Appears to CREATE value
→ Capital over-allocated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617720"/>
            <a:ext cx="1161288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663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The uniform rate produces EXACTLY THE WRONG strategic signal.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074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Telecom is actually CREATING value; P&amp;S is actually DESTROYING value — the single rate hides both truths.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Method — Estimating Segment WACCs from Exhibit 3 Comparables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Use industry-average equity beta and capital structure from Exhibit 3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3. Method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11612880" cy="13716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C00"/>
                </a:solidFill>
              </a:rPr>
              <a:t>WACC 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WACC  =  (E/V) × re  +  (D/V) × rd × (1 − t)          where   re = rf + β × MRP   (CAPM)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9260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Fixed Market Parameters (Exhibit 1 &amp; 4):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337560"/>
            <a:ext cx="59436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83279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Risk-free rate  rf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383279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</a:rPr>
              <a:t>4.62%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83279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050"/>
                </a:solidFill>
              </a:rPr>
              <a:t>30-yr U.S. Treasury, Exhibit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813048"/>
            <a:ext cx="594360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8587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Market Risk Premium  MRP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85876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</a:rPr>
              <a:t>5.50%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85876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050"/>
                </a:solidFill>
              </a:rPr>
              <a:t>Exhibit 1: rM − rf = 10.12% − 4.62%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88536"/>
            <a:ext cx="59436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34255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Tax rate 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334255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5B6"/>
                </a:solidFill>
              </a:rPr>
              <a:t>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334255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050"/>
                </a:solidFill>
              </a:rPr>
              <a:t>Case 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260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Segment-Specific Inputs (Exhibit 3):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337560"/>
            <a:ext cx="5394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38327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β (equity beta)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383279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Industry average from Exhibit 3 comparable firms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813048"/>
            <a:ext cx="5394960" cy="4389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385876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D/V, E/V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85876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Industry average market-value weights from Exhibit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4288536"/>
            <a:ext cx="539496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3425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5B6"/>
                </a:solidFill>
              </a:rPr>
              <a:t>rd (cost of debt)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334255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964"/>
                </a:solidFill>
              </a:rPr>
              <a:t>Bond yield matching segment's credit rating (Exhibit 4)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892040"/>
            <a:ext cx="11612880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9377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We use the equity beta and capital structure averages from Exhibit 3 directly. The industry averages already reflect the typical risk and leverage profile of each segment's peers — no further adjustment is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Telecom Services WACC (Q.b)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Comparables: Telecom Services Industry, Exhibit 3 (all 9 companies, industry average used directly)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7498075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615"/>
                <a:gridCol w="1499615"/>
                <a:gridCol w="1499615"/>
                <a:gridCol w="1499615"/>
                <a:gridCol w="1499615"/>
              </a:tblGrid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Equity β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Mkt D/Capital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P/Book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P/E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Alltel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23.2%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15.4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AT&amp;T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36.6%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(2.4)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BellSouth Corp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22.9%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16.7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Centurytel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13.3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Citizens Comm.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47.7%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3.5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65.0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IDT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(19.3)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SBC Communications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20.0%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19.6</a:t>
                      </a:r>
                    </a:p>
                  </a:txBody>
                  <a:tcPr>
                    <a:noFill/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Sprint Corp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30.3%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(43.1)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1603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Verizon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24.1%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12.5</a:t>
                      </a:r>
                    </a:p>
                  </a:txBody>
                  <a:tcPr>
                    <a:noFill/>
                  </a:tcPr>
                </a:tc>
              </a:tr>
              <a:tr h="361609"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Average (used)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1.04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27.1%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2.15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/>
                        <a:t>8.65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955279" y="1417320"/>
            <a:ext cx="3931920" cy="3977639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46304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Exhibit 3 average:
  β = 1.04
  D/V = 27.1%
  E/V = 72.9%
Cost of Equity (CAPM):
  re = 4.62% + 1.04×5.50%
     = 4.62% + 5.72%
     = 10.34%
Cost of Debt (A-rated):
  rd = 5.74% (Exhibit 1 &amp; 4)
WACC:
  0.729×10.34%
  + 0.271×5.74%×0.60
  = 7.54% + 0.93%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5166360"/>
            <a:ext cx="3931920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521208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Telecom WACC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577840"/>
            <a:ext cx="37490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8.47%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486400"/>
            <a:ext cx="7498079" cy="77724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559552"/>
            <a:ext cx="7315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ROC = 9.10%  &gt;  WACC = 8.47%  →  Spread = +0.63%  →  Telecom CREATES value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Products &amp; Systems WACC (Q.b)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Comparables: Telecom Equipment + Computer/Network Equipment, Exhibit 3 (average of both industries)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7498076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19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Industry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Avg β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Avg D/V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Avg E/V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Telecom Equipment (9 firms)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1.39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13.1%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86.9%</a:t>
                      </a:r>
                    </a:p>
                  </a:txBody>
                  <a:tcPr>
                    <a:noFill/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Computer/Network Equip. (9 firms)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1.33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5.3%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94.7%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P&amp;S Blended Average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1.36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9.2%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90.8%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74320" y="3017520"/>
            <a:ext cx="7498079" cy="6858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P&amp;S "engaged in the manufacture of computing and telecommunications equipment" (case text) → average of both equipment industries is appropriate.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94760"/>
            <a:ext cx="7498079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964"/>
                </a:solidFill>
              </a:rPr>
              <a:t>re = 4.62% + 1.36 × 5.50% = 4.62% + 7.48% = 12.10%
rd = 7.47%  (BB-rated bond yield, Exhibit 4)
WACC = 0.908 × 12.10%  +  0.092 × 7.47% × 0.60
     = 10.99%  +  0.41%  =  11.40%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417320"/>
            <a:ext cx="3931920" cy="3749039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16459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C00"/>
                </a:solidFill>
              </a:rPr>
              <a:t>P&amp;S WACC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03120"/>
            <a:ext cx="37490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11.40%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346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2F2F2"/>
                </a:solidFill>
              </a:rPr>
              <a:t>β = 1.36
D/V = 9.2%
E/V = 90.8%
rd = 7.47% (BB)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257800"/>
            <a:ext cx="11612880" cy="10058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32180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ROC = 11.00%  &lt;  WACC = 11.40%  →  Spread = −0.40%  →  P&amp;S DESTROYS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3328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P&amp;S earns 11% — impressive in isolation. But once risk is accounted for, it falls 40 bps short.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WACC Comparison &amp; EVA Analysis (Q.b &amp; Q.c)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All figures from Exhibits 1, 3 &amp; 4; ROC from case text page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116128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Services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Products &amp; Systems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Corporate (given)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Comparable industry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Telecom Services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Equip.+Computer (avg)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—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Equity beta (β)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1.15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Cost of equity (re)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10.34%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12.10%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10.95%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Cost of debt (rd, pre-tax)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5.74% (A-rated)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7.47% (BB-rated)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5.88% (A-/BBB+)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D/V weight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27.1%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22.2%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E/V weight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72.9%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90.8%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77.8%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WACC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8.47%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9.30%</a:t>
                      </a:r>
                    </a:p>
                  </a:txBody>
                  <a:tcPr>
                    <a:noFill/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ROC (2004, case given)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9.10%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11.00%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~9.58%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Spread (ROC − WACC)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+0.63% ✓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−0.40% ✗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+0.28%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74320" y="5029200"/>
            <a:ext cx="5486400" cy="11887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5093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Telecom: CREATES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4589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+0.63% × $11.4B  =  +$71.7M /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82472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ROC 9.10%  &gt;  WACC 8.47%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5029200"/>
            <a:ext cx="5943600" cy="1188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509320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P&amp;S: DESTROYS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545896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−0.40% × $4.6B  =  −$18.4M /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582472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ROC 11.00%  &lt;  WACC 11.40%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1">
                <a:solidFill>
                  <a:srgbClr val="1F3964"/>
                </a:solidFill>
              </a:rPr>
              <a:t>Net firm EVA: +$71.7M − $18.4M = +$53.3M/yr  |  Cross-check: 0.75×8.47%+0.25×11.40% = 9.20% ≈ 9.30% 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Analysis — Single Rate Creates Systematic Decision Errors (Q.a)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Uniform 9.30% produces exactly the wrong capital allocation signals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4. Solution &amp;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54864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48132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Under Uniform Rate (9.30%):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20240"/>
            <a:ext cx="53949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Telecom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286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9.10%  vs  Hurdle 9.30%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Spread = −0.20%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→ Appears to LOSE value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566160"/>
            <a:ext cx="53949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6118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Products &amp;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11.00%  vs  Hurdle 9.30%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Spread = +1.70%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→ Appears to CREATE value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1417320"/>
            <a:ext cx="5943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48132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Under Risk-Adjusted Rates: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1920240"/>
            <a:ext cx="58521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19659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Telecom 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228600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9.10%  vs  WACC 8.47%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60604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78644"/>
                </a:solidFill>
              </a:rPr>
              <a:t>Spread = +0.63%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9260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→ CREATES value  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3566160"/>
            <a:ext cx="5852160" cy="1508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361188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Products &amp; 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93192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ROC 11.00%  vs  WACC 11.40%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5196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</a:rPr>
              <a:t>Spread = −0.40%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5720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</a:rPr>
              <a:t>→ DESTROYS value  ✗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274320" y="5532120"/>
          <a:ext cx="1161288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Project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Uniform Rate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Risk-Adj. Rate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Error Type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Telecom IRR = 9.00%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REJECT (&lt; 9.30%)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ACCEPT (&gt; 8.47%)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Type I ✗</a:t>
                      </a:r>
                    </a:p>
                  </a:txBody>
                  <a:tcPr>
                    <a:noFill/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P&amp;S IRR = 10.50%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ACCEPT (&gt; 9.30%)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REJECT (&lt; 11.40%)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Type II 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Conclusion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Summary of findings, action plan, and response to Yossarian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5.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1417320"/>
          <a:ext cx="116128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6440"/>
                <a:gridCol w="5806440"/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Key Finding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a. Single vs. risk-adjusted?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Risk-adjusted rates are correct. Uniform 9.30% produces wrong signals for both segments.</a:t>
                      </a:r>
                    </a:p>
                  </a:txBody>
                  <a:tcPr>
                    <a:noFill/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b. Segment WACCs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Telecom: 8.47%  |  P&amp;S: 11.40%  (vs. corporate 9.30%)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c. Has P&amp;S destroyed value?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Yes: −$18.4M/yr. Telecom creates +$71.7M/yr. Net = +$53.3M/yr. Adopt risk-adjusted rates.</a:t>
                      </a:r>
                    </a:p>
                  </a:txBody>
                  <a:tcPr>
                    <a:noFill/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d. Implementation barriers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/>
                        <a:t>Political resistance, beta subjectivity, incentive misalignment, change management costs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Action Plan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4251960"/>
          <a:ext cx="11612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Immediate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Adopt segment hurdle rates: Telecom 8.47%, P&amp;S 11.40%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Q1 2006</a:t>
                      </a:r>
                    </a:p>
                  </a:txBody>
                  <a:tcPr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Short-term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Recalibrate compensation to segment EVA benchmarks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Q2 2006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Medium-term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P&amp;S strategic review: ROIC target or divestiture option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2006</a:t>
                      </a:r>
                    </a:p>
                  </a:txBody>
                  <a:tcPr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Ongoing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Annual update of betas using Exhibit 3-style comparables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Annual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6172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F3964"/>
                </a:solidFill>
              </a:rPr>
              <a:t>Yossarian is directionally right. But P&amp;S's gap is small (−0.40%, −$18.4M/yr). Improving ROIC above 11.40% is achievable — divestiture should be the last resort, not the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Q.d — Barriers to Implementing Risk-Adjusted Hurdle 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Four categories of real-world obstacles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5.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5669280" cy="2331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46304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Political Resistance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92024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P&amp;S leadership (Buono) will lobby against a higher hurdle rate
• Board reluctant to admit prior capital allocation was wrong
• Under 9.30%, P&amp;S looks profitable — why disrupt a "winning" segment?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669280" cy="2331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46304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Technical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2024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Equity betas vary with estimation window and comparable selection
• Different peer groups → different WACC → debates over methodology
• Allocating corporate-level debt costs to individual segments is judgmental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5669280" cy="2331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93192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Incentive Misalignment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" y="438912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If bonuses are still tied to old 9.30% benchmarks, behavior won't change
• Higher P&amp;S hurdle may encourage short-term ROIC fixes (cutting R&amp;D)
• Requires CEO and board endorsement to be effective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669280" cy="23317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Organizational Change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389120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• Every manager must understand why the new system is fair, not punitive
• IT/finance systems need recalibration; dashboards must be rebuilt
• Segment WACCs require annual re-estimation as markets change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Sensitivity Analysis — How Robust Are the Conclusions?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8C00"/>
                </a:solidFill>
              </a:rPr>
              <a:t>Results under different MRP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2070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5.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143000"/>
            <a:ext cx="12188952" cy="548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8016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Segment WACCs and EVA spreads under different Market Risk Premium (MRP) assumptions: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783080"/>
          <a:ext cx="116128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MRP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WACC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Spread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Spread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Verdict</a:t>
                      </a:r>
                    </a:p>
                  </a:txBody>
                  <a:tcPr>
                    <a:solidFill>
                      <a:srgbClr val="1F3964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4.5%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8.02%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10.74%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+1.08%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+0.26%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Creating value</a:t>
                      </a:r>
                    </a:p>
                  </a:txBody>
                  <a:tcPr>
                    <a:noFill/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11.07%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+0.86%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−0.07%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Marginally destroying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5.5% (base)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8.47%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11.40%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+0.63%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−0.40%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Destroying value</a:t>
                      </a:r>
                    </a:p>
                  </a:txBody>
                  <a:tcPr>
                    <a:noFill/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6.0%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8.70%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11.72%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−0.72%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Destroying value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6.5%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8.93%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12.05%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+0.17%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−1.05%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/>
                        <a:t>Destroying value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274320" y="4343400"/>
            <a:ext cx="116128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4074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964"/>
                </a:solidFill>
              </a:rPr>
              <a:t>Interpretation: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73168"/>
            <a:ext cx="11247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F3964"/>
                </a:solidFill>
              </a:rPr>
              <a:t>• Telecom Services creates value (+spread) under ALL scenarios shown.
• P&amp;S is at the margin: it creates value only at very low MRP (≤ 4.5%), and destroys value under the base case (MRP = 5.5%) and above.
• The qualitative conclusion — adopt risk-adjusted rates and set ROIC targets for P&amp;S — is robust across reasonable MRP assumptions.
• The magnitude of P&amp;S value destruction is small (−$18.4M/yr at base), reinforcing that improvement rather than divestiture is the preferred strategy.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88952" cy="640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0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8C00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360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Key Numbers  (all sourced from case Exhibits 1, 3 &amp; 4 and case text page 2)
  Corporate WACC = 9.30%  |  Telecom WACC = 8.47%  |  P&amp;S WACC = 11.40%
  Telecom ROC = 9.10%, EVA = +$71.7M/yr  |  P&amp;S ROC = 11.00%, EVA = −$18.4M/yr
  Net firm EVA = +$53.3M/yr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2F2F2"/>
                </a:solidFill>
              </a:rPr>
              <a:t>Rangxila GONG  |  Huihui LIU  |  Haiyun ZOU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5778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2F2F2"/>
                </a:solidFill>
              </a:rPr>
              <a:t>MFE 5231 Financial Management  |  CUHK(Shenzhen)  |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