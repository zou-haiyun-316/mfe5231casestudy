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4864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1480" y="1097280"/>
            <a:ext cx="1828800" cy="82296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1115568"/>
            <a:ext cx="1828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</a:rPr>
              <a:t>CASE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423160" y="1097280"/>
            <a:ext cx="93268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</a:rPr>
              <a:t>TeleTech Corporation, 2005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23160" y="1920240"/>
            <a:ext cx="93268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1">
                <a:solidFill>
                  <a:srgbClr val="ED7D31"/>
                </a:solidFill>
              </a:rPr>
              <a:t>Risk-Adjusted Hurdle Rates &amp; Capital Allocation Strategy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834640"/>
            <a:ext cx="11338560" cy="45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29718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DEEBF7"/>
                </a:solidFill>
              </a:rPr>
              <a:t>Group 4:  Rangxila GONG  |  Huihui LIU  |  Yin PANG  |  Haiyun ZOU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429000"/>
            <a:ext cx="11338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MFE 5231 Financial Management  •  2nd Term 2025-2026  •  CUHK (Shenzhen)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384048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DD7EE"/>
                </a:solidFill>
              </a:rPr>
              <a:t>Instructor: Prof. Joseph Cheng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37744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4340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59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75319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241280" y="4754880"/>
            <a:ext cx="1828800" cy="164592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Presentation to Prof. Joseph Cheng  |  Week 14 / 15, April-May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1261872"/>
            <a:ext cx="822960" cy="4297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8016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126187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131673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Company Overview &amp; The Core Problem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810512"/>
            <a:ext cx="822960" cy="4297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182880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234440" y="181051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71600" y="186537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Conceptual Framework: WACC &amp; Risk-Adjusted Rates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59152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23774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34440" y="235915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241401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Beta Calculation: Unlever &amp; Re-lever (Telecom)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2907791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292607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34440" y="2907791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0" y="296265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Beta Calculation: Unlever &amp; Re-lever (P&amp;S)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456432"/>
            <a:ext cx="822960" cy="4297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347472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34440" y="345643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0" y="351129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Segment WACC Summary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005072"/>
            <a:ext cx="822960" cy="4297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0" y="402335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06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34440" y="400507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71600" y="405993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Constant vs. Risk-Adjusted Hurdle Rate (Q.a)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4553712"/>
            <a:ext cx="822960" cy="4297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11480" y="457199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34440" y="455371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0" y="460857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EVA Analysis: Value Creation by Segment (Q.c)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5102352"/>
            <a:ext cx="822960" cy="4297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5120640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34440" y="510235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71600" y="5157216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Implementation Barriers (Q.d)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" y="5650992"/>
            <a:ext cx="822960" cy="4297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5669279"/>
            <a:ext cx="822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</a:rPr>
              <a:t>09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34440" y="5650992"/>
            <a:ext cx="10515600" cy="4297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371600" y="5705855"/>
            <a:ext cx="10332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404040"/>
                </a:solidFill>
              </a:rPr>
              <a:t>Conclusion &amp; Recommendations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Company Overview: TeleTech Corporation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Two fundamentally different business segments — one risk hurdle rate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80160"/>
            <a:ext cx="539496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89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Telecommunications Services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5394960" cy="30175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01368"/>
            <a:ext cx="512064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Revenue (FY2004):    ~$9.6 billion  (73% of total)
Business Type:       Regulated utility-like carrier
Cash Flow Profile:   Stable, predictable
ROIC (FY2004):       9.63%
Current Hurdle Rate: 9.30%  (corporate-wide)
Spread:              +0.33%  (appears value-creating)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80160"/>
            <a:ext cx="539496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8930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 (P&amp;S)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301752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801368"/>
            <a:ext cx="5166360" cy="288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Revenue (FY2004):    ~$3.5 billion  (27% of total)
Business Type:       Technology &amp; manufacturing
Cash Flow Profile:   Cyclical, competitive
ROIC (FY2004):       8.84%
Current Hurdle Rate: 9.30%  (corporate-wide)
Spread:              -0.46%  (appears slightly bad)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937760"/>
            <a:ext cx="11338560" cy="118872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4937760"/>
            <a:ext cx="109728" cy="11887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498348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</a:rPr>
              <a:t>The Core Problem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330952"/>
            <a:ext cx="1097280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TeleTech applies ONE corporate hurdle rate (9.30%) to BOTH segments despite their fundamentally different risk profiles.
→  This leads to systematic misallocation of capital — a 'cross-subsidy' from value-creating Telecom to value-destroying P&amp;S.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Conceptual Framework: Cost of Capital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Chapter 14: WACC | Chapter 11: Capital Budgeting NPV Rule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61872"/>
            <a:ext cx="11338560" cy="77724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1B3A6B"/>
                </a:solidFill>
              </a:rPr>
              <a:t>WACC  =  (E/V) × rₑ  +  (D/V) × r_d × (1 − t)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2194560"/>
            <a:ext cx="3749039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Cost of Equity (CAPM)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rₑ  =  r_f  +  β_L  ×  MRP
r_f  = Risk-free rate (10yr T-Bond)
MRP = Market Risk Premium
β_L  = Levered Beta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194560"/>
            <a:ext cx="3749039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43400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Beta Adjustment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β_U  =  β_L / [1 + (1−t)(D/E)]
        ← Unlever (remove leverage effect)
β_L* = β_U × [1 + (1−t)(D/E)*]
        ← Re-lever (apply target structure)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75319" y="2194560"/>
            <a:ext cx="3749039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194560"/>
            <a:ext cx="374903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Cost of Debt (After-tax)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75319" y="2578608"/>
            <a:ext cx="3749039" cy="173736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59" y="2633472"/>
            <a:ext cx="3566160" cy="166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After-tax cost  =  r_d × (1 − t)
Debt is tax-deductible:
Interest payment reduces taxable income
→ Government shares in cost of debt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480560"/>
            <a:ext cx="5394960" cy="164592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11480" y="4480560"/>
            <a:ext cx="109728" cy="164592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452628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Key Parameters (This Case)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873752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r_f  = 4.62%  (10-year U.S. Treasury, 2005)
MRP  = 5.50%  (standard U.S. equity risk premium)
t    = 40%    (marginal corporate tax rate)
(1−t) = 0.60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35040" y="4480560"/>
            <a:ext cx="5715000" cy="164592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035040" y="4480560"/>
            <a:ext cx="109728" cy="164592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17920" y="452628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B3A6B"/>
                </a:solidFill>
              </a:rPr>
              <a:t>Purpose of WACC (Chapter 14)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17920" y="4873752"/>
            <a:ext cx="5394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• Determine the desirability of a project
• Enable resource allocation between divisions
• Measure performance &amp; align incentives
→ A blended WACC FAILS when segments have
  different risk profiles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Step-by-Step WACC: Telecom Services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Comparable firms: BellSouth | SBC Communications | Verizon | Sprint Nextel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98448"/>
          <a:ext cx="114300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Levered β_L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β_U = β_L ÷ [1+0.60×(D/E)]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BellSouth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31.1%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68.9%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0.4514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0.80 ÷ 1.2708 = 0.630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SBC Communications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71.7%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0.3948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0.75 ÷ 1.2369 = 0.606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Verizon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0.90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37.9%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62.1%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0.6103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0.90 ÷ 1.3662 = 0.659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Sprint Nextel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0.5408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0.85 ÷ 1.3245 = 0.642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33.1%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66.9%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0.4943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→  β_U (avg) = 0.634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611880"/>
            <a:ext cx="2286000" cy="65836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63016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Re-lever Beta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611880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70332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β_L (Telecom) = 0.634 × [1 + 0.60 × 0.4943] = 0.634 × 1.2966 = 0.822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16552"/>
            <a:ext cx="2286000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416552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507992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rₑ = 4.62% + 0.822 × 5.50% = 4.62% + 4.52% = 9.14%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21224"/>
            <a:ext cx="2286000" cy="65836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2395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WACC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5221224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12664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= 0.669 × 9.14% + 0.331 × 5.74% × 0.60  =  6.11% + 1.14%  =  7.25%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08192"/>
            <a:ext cx="11430000" cy="54864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539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Telecom Services WACC  =  8.84%   (using r_d = 5.74%  →  after-tax = 3.44%)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Step-by-Step WACC: Products &amp; Systems Segment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Comparable firms: Motorola | Lucent Technologies | Nortel Networks | EDS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98448"/>
          <a:ext cx="11430000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Company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Levered β_L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D/V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E/V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D/E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β_U = β_L ÷ [1+0.60×(D/E)]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Motorola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19.6%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80.4%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0.2438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1.60 ÷ 1.1463 = 1.396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Lucent Technologies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31.0%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0.4493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1.75 ÷ 1.2696 = 1.379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Nortel Networks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1.85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28.0%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72.0%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0.3889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1.85 ÷ 1.2333 = 1.500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EDS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22.5%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77.5%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0.2903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1.45 ÷ 1.1742 = 1.235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81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Average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1.6625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25.3%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74.7%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0.3388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→  β_U (avg) = 1.378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3611880"/>
            <a:ext cx="2286000" cy="65836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3630168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Re-lever Beta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3611880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88920" y="3703320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β_L (P&amp;S)  = 1.378 × [1 + 0.60 × 0.3388] = 1.378 × 1.2033 = 1.658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416552"/>
            <a:ext cx="2286000" cy="65836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4434840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Cost of Equity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51760" y="4416552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788920" y="4507992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rₑ = 4.62% + 1.658 × 5.50% = 4.62% + 9.12% = 13.74%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221224"/>
            <a:ext cx="2286000" cy="658368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5239512"/>
            <a:ext cx="22860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WACC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51760" y="5221224"/>
            <a:ext cx="9144000" cy="65836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788920" y="5312664"/>
            <a:ext cx="896112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= 0.747 × 13.74% + 0.253 × 6.30% × 0.60  =  10.26% + 0.96%  =  11.22%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6108192"/>
            <a:ext cx="11430000" cy="54864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15391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Products &amp; Systems WACC  =  11.22%   (using r_d = 6.30%  →  after-tax = 3.78%)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Segment WACC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Risk-adjusted rates reveal what the blended 9.30% rate conceals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1261872"/>
          <a:ext cx="11430000" cy="4069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/>
                <a:gridCol w="2857500"/>
                <a:gridCol w="2857500"/>
                <a:gridCol w="2857500"/>
              </a:tblGrid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Metric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Telecom Services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Products &amp; Systems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Corporate Blended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Avg. Unlevered Beta (β_U)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0.634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1.378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Target D/E Ratio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0.494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~0.43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Re-levered Beta (β_L)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~1.04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Cost of Equity (rₑ)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9.14%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13.74%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~10.3%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After-tax Cost of Debt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3.44%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3.78%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~3.6%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Equity Weight (E/V)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66.9%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74.7%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Debt Weight (D/V)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33.1%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25.3%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~30%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9916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 (FY2004)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~9.40%</a:t>
                      </a:r>
                    </a:p>
                  </a:txBody>
                  <a:tcPr>
                    <a:solidFill>
                      <a:srgbClr val="DEEBF7"/>
                    </a:solidFill>
                  </a:tcPr>
                </a:tc>
              </a:tr>
              <a:tr h="3699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 (ROIC − WACC)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+0.79%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 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+0.10%  (misleading)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458968"/>
            <a:ext cx="11430000" cy="74980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5522976"/>
            <a:ext cx="111556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</a:rPr>
              <a:t>Key Insight: The corporate blended WACC of 9.30% masks a 2.38% value-destruction gap in P&amp;S,
and simultaneously understates the value-creation potential of Telecom Services.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Q.a: Impact of Constant vs. Risk-Adjusted Hurdle 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Uniform rate creates two types of decision errors — Chapter 11 Capital Budgeting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5394960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61872"/>
            <a:ext cx="53949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Constant Hurdle Rate  (9.30%)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700784"/>
          <a:ext cx="539496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78992"/>
                <a:gridCol w="1078992"/>
                <a:gridCol w="1078992"/>
                <a:gridCol w="1078992"/>
                <a:gridCol w="1078992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Hurdle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Actually</a:t>
                      </a:r>
                    </a:p>
                  </a:txBody>
                  <a:tcPr>
                    <a:solidFill>
                      <a:srgbClr val="2E75B6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Telecom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ACCEPT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Under-valued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P&amp;S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9.30%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REJECT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Wrong signal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3246120"/>
            <a:ext cx="5394960" cy="164592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246120"/>
            <a:ext cx="109728" cy="164592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291840"/>
            <a:ext cx="51206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</a:rPr>
              <a:t>Decision Errors: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639312"/>
            <a:ext cx="51206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Telecom projects (ROIC 8.84%–9.30%) are REJECTED
  even though they create value  →  Type I Error
• P&amp;S projects (ROIC 9.30%–11.22%) are ACCEPTED
  even though they destroy value  →  Type II Error
• Capital flows from value-creator to value-destroyer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1261872"/>
            <a:ext cx="5486400" cy="438912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1261872"/>
            <a:ext cx="548640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Risk-Adjusted Hurdle Rate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09360" y="1700784"/>
          <a:ext cx="548640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097280"/>
                <a:gridCol w="1097280"/>
                <a:gridCol w="1097280"/>
                <a:gridCol w="1097280"/>
              </a:tblGrid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Segment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WACC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EVA Spread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Decision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Telecom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+0.79%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 MORE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244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P&amp;S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RESTRUCTURE 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6309360" y="3246120"/>
            <a:ext cx="5486400" cy="164592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309360" y="3246120"/>
            <a:ext cx="109728" cy="164592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29184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378644"/>
                </a:solidFill>
              </a:rPr>
              <a:t>Correct Capital Allocation: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3639312"/>
            <a:ext cx="5212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Each segment faces its OWN cost of capital
• Telecom receives MORE capital (strong value-creator)
• P&amp;S receives LESS capital (value-destroyer)
• Management incentives align with true risk
• Eliminates the cross-subsidy mechanism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074920"/>
            <a:ext cx="11430000" cy="109728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5074920"/>
            <a:ext cx="109728" cy="1097280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512064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B3A6B"/>
                </a:solidFill>
              </a:rPr>
              <a:t>Resource Allocation Implications (Q.a)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68112"/>
            <a:ext cx="109728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The uniform rate systematically channels capital toward the riskier segment and away from the safer segment — the opposite of what maximizes shareholder value.
Conclusion: Risk-adjusted hurdle rates are the ONLY correct basis for multi-segment capital allocation.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Q.c: EVA Analysis — Has P&amp;S Destroyed Value?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EVA = (ROIC − WACC_segment) × Invested Capital  |  Equivalent to NPV for ongoing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658368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7160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100" b="1" i="0">
                <a:solidFill>
                  <a:srgbClr val="1B3A6B"/>
                </a:solidFill>
              </a:rPr>
              <a:t>EVA  =  (ROIC  −  WACC_segment)  ×  Invested Capital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103120"/>
            <a:ext cx="5394960" cy="292608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103120"/>
            <a:ext cx="539496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112264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 Services  —  VALUE CREATOR  ✓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65760" y="2560320"/>
          <a:ext cx="539496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69748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378644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9.63%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Segment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+0.79%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Invested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$8,760M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Annual EVA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+$69.2M  ✓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6309360" y="2103120"/>
            <a:ext cx="5486400" cy="2926080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2103120"/>
            <a:ext cx="5486400" cy="457200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112264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Products &amp; Systems  —  VALUE DESTROYER  ✗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09360" y="2560320"/>
          <a:ext cx="548640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</a:tblGrid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</a:rPr>
                        <a:t>Value</a:t>
                      </a:r>
                    </a:p>
                  </a:txBody>
                  <a:tcPr>
                    <a:solidFill>
                      <a:srgbClr val="C00000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ROIC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Segment WACC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Spread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−2.38%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Invested Capital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$3,240M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0520"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Annual EVA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>
                          <a:solidFill>
                            <a:srgbClr val="404040"/>
                          </a:solidFill>
                        </a:rPr>
                        <a:t>−$77.1M  ✗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65760" y="5193792"/>
            <a:ext cx="11430000" cy="56692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523951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Net Annual EVA:  +$69.2M  −  $77.1M  =  −$7.9M  (firm is a NET value destroyer!)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5879592"/>
            <a:ext cx="11430000" cy="347472"/>
          </a:xfrm>
          <a:prstGeom prst="rect">
            <a:avLst/>
          </a:prstGeom>
          <a:solidFill>
            <a:srgbClr val="FFEB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07024"/>
            <a:ext cx="11155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00000"/>
                </a:solidFill>
              </a:rPr>
              <a:t>Conclusion: P&amp;S has ALREADY been destroying value. Switching to risk-adjusted rates reveals the problem — it does NOT cause it. The firm SHOULD implement risk-adjusted hurdle rates.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Q.c: Should TeleTech Implement Risk-Adjusted Hurdle Rates?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The financial case is unambiguous — but execution requires care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5394960" cy="41148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261872"/>
            <a:ext cx="53949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What Uniform Rate Tells Management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73352"/>
            <a:ext cx="5394960" cy="18288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737360"/>
            <a:ext cx="516636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Telecom spread:  +0.33%  ← small value creator
P&amp;S spread:      −0.46%  ← marginal value destroyer
Net firm spread: +0.10%  ← 'roughly OK'
→ Management might think P&amp;S needs only
  minor improvement and the firm is fine.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1261872"/>
            <a:ext cx="5486400" cy="41148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261872"/>
            <a:ext cx="5486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What Risk-Adjusted Rates Reveal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673352"/>
            <a:ext cx="5486400" cy="1828800"/>
          </a:xfrm>
          <a:prstGeom prst="rect">
            <a:avLst/>
          </a:prstGeom>
          <a:solidFill>
            <a:srgbClr val="E2EF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46520" y="1737360"/>
            <a:ext cx="525780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404040"/>
                </a:solidFill>
              </a:rPr>
              <a:t>Telecom spread:  +0.79%  ← strong value creator
P&amp;S spread:      −2.38%  ← massive value destroyer
Net firm EVA:    −$7.9M/yr ← firm is NET negative
→ Management MUST restructure P&amp;S and
  redirect capital to Telecom.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611880"/>
            <a:ext cx="11430000" cy="41148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63016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</a:rPr>
              <a:t>Why Implementing Risk-Adjusted Rates Creates (Not Destroys) Value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60520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65760" y="419709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4160520"/>
            <a:ext cx="10972800" cy="53035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15383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Stop accepting bad P&amp;S projects:  P&amp;S projects with IRR between 9.30% and 11.22% are currently ACCEPTED but destroy value. A higher hurdle rate rejects them correctly.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4800600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65760" y="4837176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4800600"/>
            <a:ext cx="10972800" cy="5303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855464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Unlock good Telecom projects:  Telecom projects with IRR between 8.84% and 9.30% are currently REJECTED. A lower Telecom hurdle rate correctly approves these value-creating investments.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5440679"/>
            <a:ext cx="548640" cy="53035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5760" y="5477255"/>
            <a:ext cx="5486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" y="5440679"/>
            <a:ext cx="10972800" cy="530352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495543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Improve capital efficiency:  Reallocating capital from P&amp;S (EVA: −$77M/yr) to Telecom (EVA: +$69M/yr) directly improves shareholder returns.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Q.d: Barriers to Implementing Risk-Adjusted Hurdle Rates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Four categories of real-world friction that prevent theoretically correct systems from working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8930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01  Political &amp; Organizational Resistance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645919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691639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P&amp;S managers resist: higher WACC (11.22% vs 9.30%) makes projects harder to justify
• Board uncomfortable acknowledging past decisions were wrong
• Risk of 'gaming': divisions propose comparables to minimize their hurdle rate
• Internal lobbying can delay or dilute implementation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496312"/>
            <a:ext cx="11430000" cy="384048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252374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02  Technical &amp; Analytical Challenges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88036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92608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Beta estimation is noisy — a different sample period or peer group shifts WACC by 2-3%
• No single 'correct' set of comparable firms; selection is inherently subjective
• Corporate debt is raised centrally; allocating it to segments requires judgment
• Segment interdependencies (shared infrastructure, cross-selling) blur clean separation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3730752"/>
            <a:ext cx="11430000" cy="384048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75818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03  Incentive &amp; Compensation Misalignment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411480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16052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Bonus systems still calibrated to 9.30% → behavioral change lags structural change
• Higher P&amp;S hurdle may trigger R&amp;D cuts to boost near-term ROIC (short-termism)
• Managers optimize for visible metrics even if they conflict with true value creation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965192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992624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04  Organizational Learning Curve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5349240"/>
            <a:ext cx="11430000" cy="77724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5394960"/>
            <a:ext cx="11155680" cy="7132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• Every BU finance team needs education on why different segments face different rates
• Capital budgeting systems, dashboards, and approval templates all need recalibration
• Segment WACCs require ongoing annual update as betas and market conditions change
• External communication: investors expect consistency in value-creation metrics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5156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91440"/>
            <a:ext cx="11338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Sensitivity Analysis: WACC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777240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DEEBF7"/>
                </a:solidFill>
              </a:rPr>
              <a:t>Qualitative conclusion holds across all reasonable parameter assumptions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261872"/>
            <a:ext cx="11430000" cy="384048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289304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Telecom and P&amp;S WACC under different Market Risk Premium (MRP) assumptions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65760" y="1691640"/>
          <a:ext cx="1143000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  <a:gridCol w="1428750"/>
              </a:tblGrid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MRP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β_L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rₑ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Telecom WACC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β_L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rₑ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P&amp;S WACC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</a:rPr>
                        <a:t>Gap</a:t>
                      </a:r>
                    </a:p>
                  </a:txBody>
                  <a:tcPr>
                    <a:solidFill>
                      <a:srgbClr val="1B3A6B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4.5%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8.32%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7.76%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12.08%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10.34%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2.58%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5.0%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8.08%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12.91%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10.78%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2.70%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5.5%  ← Base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9.14%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8.84%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13.74%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11.22%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2.38%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6.0%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9.55%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9.16%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14.57%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11.66%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2.50%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8822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6.5%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9.96%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9.48%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15.40%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12.10%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2.62%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78828"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7.0%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0.822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10.37%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9.80%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1.658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16.23%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12.54%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404040"/>
                          </a:solidFill>
                        </a:rPr>
                        <a:t>2.74%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365760" y="4480560"/>
            <a:ext cx="11430000" cy="594360"/>
          </a:xfrm>
          <a:prstGeom prst="rect">
            <a:avLst/>
          </a:prstGeom>
          <a:solidFill>
            <a:srgbClr val="DEEB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4535424"/>
            <a:ext cx="1115568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B3A6B"/>
                </a:solidFill>
              </a:rPr>
              <a:t>P&amp;S ROIC of 8.84% falls BELOW P&amp;S WACC under EVERY MRP assumption above 4.5%.
Telecom ROIC of 9.63% EXCEEDS Telecom WACC under every assumption.
→ The qualitative conclusion is robust: P&amp;S destroys value; Telecom creates value.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230368"/>
            <a:ext cx="11430000" cy="502920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528523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Warning: At MRP = 5.5%, the uniform corporate WACC of 9.30% implies Telecom creates only +0.33% spread and P&amp;S destroys only −0.46%.
→ The blended rate dramatically understates the magnitude of both value-creation and value-destruction.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5852160"/>
            <a:ext cx="11430000" cy="438912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" y="5852160"/>
            <a:ext cx="109728" cy="438912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5888736"/>
            <a:ext cx="11155680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404040"/>
                </a:solidFill>
              </a:rPr>
              <a:t>Chapter 15 (Capital Structure): Stable regulated Telecom (D/V = 33.1%) vs. cyclical P&amp;S (D/V = 25.3%) reflects the moderate position — riskier businesses support less debt optimally.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137160"/>
            <a:ext cx="11338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Conclusion &amp; Recommendations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868680"/>
            <a:ext cx="11338560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1005840"/>
          <a:ext cx="11338560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79520"/>
                <a:gridCol w="3779520"/>
                <a:gridCol w="3779520"/>
              </a:tblGrid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Question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Finding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</a:rPr>
                        <a:t>Implication</a:t>
                      </a:r>
                    </a:p>
                  </a:txBody>
                  <a:tcPr>
                    <a:solidFill>
                      <a:srgbClr val="ED7D31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a. Hurdle Rate Choice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Uniform rate creates Type I &amp; II errors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Risk-adjusted rates are the ONLY correct approach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b. Segment WACC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Telecom: 8.84%  |  P&amp;S: 11.22%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Corporate 9.30% masks a 2.38% gap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c. Value Creation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P&amp;S: −$77M/yr EVA  |  Telecom: +$69M/yr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Must implement risk-adjusted rates NOW</a:t>
                      </a:r>
                    </a:p>
                  </a:txBody>
                  <a:tcPr>
                    <a:solidFill>
                      <a:srgbClr val="1F467A"/>
                    </a:solidFill>
                  </a:tcPr>
                </a:tc>
              </a:tr>
              <a:tr h="466344"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d. Barriers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Political, technical, incentive, learning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>
                          <a:solidFill>
                            <a:srgbClr val="404040"/>
                          </a:solidFill>
                        </a:rPr>
                        <a:t>Manage proactively — don't let barriers block change</a:t>
                      </a:r>
                    </a:p>
                  </a:txBody>
                  <a:tcPr>
                    <a:solidFill>
                      <a:srgbClr val="24528A"/>
                    </a:solidFill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11480" y="3493008"/>
            <a:ext cx="11338560" cy="38404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3520440"/>
            <a:ext cx="11155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Action Plan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3931920"/>
            <a:ext cx="1554480" cy="457200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3950207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Immediate</a:t>
            </a:r>
          </a:p>
        </p:txBody>
      </p:sp>
      <p:sp>
        <p:nvSpPr>
          <p:cNvPr id="10" name="Rectangle 9"/>
          <p:cNvSpPr/>
          <p:nvPr/>
        </p:nvSpPr>
        <p:spPr>
          <a:xfrm>
            <a:off x="1965960" y="3931920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103120" y="3986783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Adopt risk-adjusted hurdle rates: Telecom 8.84%, P&amp;S 11.22%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652760" y="3931920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52760" y="3986783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Q1 2006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462272"/>
            <a:ext cx="1554480" cy="45720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4480559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Short-term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965960" y="4462272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103120" y="4517136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Recalibrate compensation to EVA benchmarks using segment WACCs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652760" y="4462272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52760" y="451713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Q2 2006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4992624"/>
            <a:ext cx="1554480" cy="457200"/>
          </a:xfrm>
          <a:prstGeom prst="rect">
            <a:avLst/>
          </a:prstGeom>
          <a:solidFill>
            <a:srgbClr val="3786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5010912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Medium-term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965960" y="4992624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03120" y="5047488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Strategic review of P&amp;S: restructure, divest, or set turnaround targets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52760" y="4992624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52760" y="504748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2006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5522975"/>
            <a:ext cx="1554480" cy="457200"/>
          </a:xfrm>
          <a:prstGeom prst="rect">
            <a:avLst/>
          </a:prstGeom>
          <a:solidFill>
            <a:srgbClr val="703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11480" y="5541263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Ongoing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65960" y="5522975"/>
            <a:ext cx="8686800" cy="457200"/>
          </a:xfrm>
          <a:prstGeom prst="rect">
            <a:avLst/>
          </a:prstGeom>
          <a:solidFill>
            <a:srgbClr val="1F46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103120" y="5577839"/>
            <a:ext cx="8549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DEEBF7"/>
                </a:solidFill>
              </a:rPr>
              <a:t>Annual update of segment betas and comparable firm capital structures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652760" y="5522975"/>
            <a:ext cx="1097280" cy="457200"/>
          </a:xfrm>
          <a:prstGeom prst="rect">
            <a:avLst/>
          </a:prstGeom>
          <a:solidFill>
            <a:srgbClr val="142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652760" y="5577839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C000"/>
                </a:solidFill>
              </a:rPr>
              <a:t>Annual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5760" y="6510528"/>
            <a:ext cx="1143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MFE 5231 Financial Management  |  Group 4  |  CUHK (Shenzhen)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93992"/>
            <a:ext cx="12188952" cy="64008"/>
          </a:xfrm>
          <a:prstGeom prst="rect">
            <a:avLst/>
          </a:prstGeom>
          <a:solidFill>
            <a:srgbClr val="ED7D3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114300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0" b="1" i="0">
                <a:solidFill>
                  <a:srgbClr val="FFFFFF"/>
                </a:solidFill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3200400"/>
            <a:ext cx="11430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0" b="0" i="0">
                <a:solidFill>
                  <a:srgbClr val="ED7D31"/>
                </a:solidFill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2286000" y="4389120"/>
            <a:ext cx="7589520" cy="54864"/>
          </a:xfrm>
          <a:prstGeom prst="rect">
            <a:avLst/>
          </a:prstGeom>
          <a:solidFill>
            <a:srgbClr val="2E75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461772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BF7"/>
                </a:solidFill>
              </a:rPr>
              <a:t>Group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502920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 i="0">
                <a:solidFill>
                  <a:srgbClr val="DEEBF7"/>
                </a:solidFill>
              </a:rPr>
              <a:t>Rangxila GONG  |  Huihui LIU  |  Yin PANG  |  Haiyun ZOU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40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DD7EE"/>
                </a:solidFill>
              </a:rPr>
              <a:t>MFE 5231 Financial Management  •  CUHK (Shenzhen)  • 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