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TeleTech Corporation, 2005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8C00"/>
                </a:solidFill>
              </a:rPr>
              <a:t>Risk-Adjusted Hurdle Rates &amp; Value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MFE 5231 Financial Management  |  Case 4  |  Group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</a:rPr>
              <a:t>Rangxila GONG  |  Huihui LIU  |  Haiyun ZOU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CUHK(Shenzhen)  |  2025–2026 Term 2  |  Instructor: Prof. Joseph Cheng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2F2"/>
                </a:solidFill>
              </a:rPr>
              <a:t>UV1375  ·  University of Virginia Darden School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0817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Company Overview &amp; Core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7335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The two-segment puzzle and Yossarian's 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39112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7568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Theoretical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40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WACC, CAPM, and beta unlever/re-lever (Chapter 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066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Q.b — Segment WACC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08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Telecom: 8.53%  |  P&amp;S: 11.22%  (from Exhibit 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74136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1071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7413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Q.a — Single vs. Risk-Adjusted 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7588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Decision errors and the SML framework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41648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7822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41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Q.c — EVA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434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Has P&amp;S destroyed value? (Answer: Yes, –$10M/yr)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4573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709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Q.d — Implementation Barriers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1091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Four categories of real-world obstacles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76672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132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766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Conclusion &amp; Action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784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Strategic recommendations for Weston &amp; the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TeleTech Corporation — Overview &amp;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Dallas, TX  |  Large regional telecom  |  2005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760720" cy="411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Telecom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828800"/>
            <a:ext cx="5440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2004 NOPAT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836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$1.18B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496312"/>
            <a:ext cx="54406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511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Net Assets (Capital)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51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$11.4B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3163824"/>
            <a:ext cx="5440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186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Return on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186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9.10%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831335"/>
            <a:ext cx="54406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8619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Corp. Hurdle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8619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9.30%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79" y="4498848"/>
            <a:ext cx="5440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537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Spread (ROC − Hurdle)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537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−0.20%*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1280160"/>
            <a:ext cx="5760720" cy="4114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2801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Products &amp;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828800"/>
            <a:ext cx="5440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188366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2004 NOPAT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8836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$480M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496312"/>
            <a:ext cx="54406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25511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Net Assets (Capital)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51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$4.6B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163824"/>
            <a:ext cx="5440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32186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Return on Capital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2186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11.00%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831335"/>
            <a:ext cx="54406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388619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Corp. Hurdle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88619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9.30%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498848"/>
            <a:ext cx="5440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45537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Spread (ROC − Hurdle)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5537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F3964"/>
                </a:solidFill>
              </a:rPr>
              <a:t>+1.70%*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5321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3964"/>
                </a:solidFill>
              </a:rPr>
              <a:t>* Under corporate 9.30% hurdle — P&amp;S appears profitable; Telecom appears below hurdle. This is the core illusion.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Victor Yossarian (10% shareholder) demands: sell P&amp;S, focus on Telecom. Is he right?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Theoretical Framework — Chapter 14: Cost of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Unlever–Relever Beta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09728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371600"/>
            <a:ext cx="9966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3990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Identify Pure-Play Comparables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Select publicly traded firms from Exhibit 3 matching each segment's business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59152"/>
            <a:ext cx="109728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5059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359152"/>
            <a:ext cx="9966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3865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Unlever Each Beta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70662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βU = βL / [1 + (1−t) × D/E]  ← strips out financial leverage effect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46704"/>
            <a:ext cx="109728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3814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346704"/>
            <a:ext cx="9966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3741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Average βU → Re-lever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69417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βL* = βU × [1 + (1−t) × D/E*]  ← apply segment's target capital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34256"/>
            <a:ext cx="109728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2569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334256"/>
            <a:ext cx="9966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361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Cost of Equity (CAPM)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68172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re = rf + βL* × MRP  |  rf = 4.62% (30yr Treasury), MRP = 5.50% (Exhibit 1 &amp; 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21808"/>
            <a:ext cx="1097280" cy="6858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4132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321808"/>
            <a:ext cx="9966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5349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WACC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6692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WACC = (E/V) × re + (D/V) × rd × (1−t)  |  t = 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3964"/>
                </a:solidFill>
              </a:rPr>
              <a:t>Key insight from Exhibit 2 (Ingles memo): Segment WACCs are computed the same way as corporate WACC, but using segment-appropriate comparables and capital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Q.b — Telecom Services WACC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Comparables: Exhibit 3 Telecom Services Industry (6 firms, excluding AT&amp;T &amp; IDT)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βL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D/V (MV)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E/V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D/E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βU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Alltel Corp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23.2%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76.8%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0.302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0.847</a:t>
                      </a:r>
                    </a:p>
                  </a:txBody>
                  <a:tcPr>
                    <a:noFill/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BellSouth Corp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22.9%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0.297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0.849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Centurytel Corp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37.0%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63.0%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0.587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0.776</a:t>
                      </a:r>
                    </a:p>
                  </a:txBody>
                  <a:tcPr>
                    <a:noFill/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SBC Communications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0.913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Sprint Corp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30.3%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69.7%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0.435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0.912</a:t>
                      </a:r>
                    </a:p>
                  </a:txBody>
                  <a:tcPr>
                    <a:noFill/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Verizon Comm.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75.9%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0.318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0.840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Average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26.25%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73.75%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0.356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0.856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434840"/>
            <a:ext cx="11612880" cy="19202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Target structure: D/V = 26.25%,  E/V = 73.75%,  D/E = 0.356
Re-levered βL = 0.856 × (1 + 0.60 × 0.356) = 0.856 × 1.214 = 1.039
Cost of Equity = 4.62% + 1.039 × 5.50% = 4.62% + 5.71% = 10.33%
Cost of Debt (pre-tax) = 5.74%  (A-rated, Exhibit 1 &amp; Exhibit 4)
WACC  =  0.7375 × 10.33%  +  0.2625 × 5.74% × 0.60
      =  7.62%  +  0.90%  =  8.53%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4434840"/>
            <a:ext cx="2926080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Telecom
WACC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166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8.53%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ROC = 9.10%  →  +0.57% spread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Q.b — Products &amp; Systems WACC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Comparables: Exhibit 3 Telecom Equipment + Computer/Network Equipment (14 firms)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7772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βL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D/V (MV)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E/V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βU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Avaya Inc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4.4%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95.6%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1.314</a:t>
                      </a:r>
                    </a:p>
                  </a:txBody>
                  <a:tcP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Belden CDT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82.5%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1.286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Commscope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22.4%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77.6%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0.938</a:t>
                      </a:r>
                    </a:p>
                  </a:txBody>
                  <a:tcP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Corning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11.8%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88.2%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1.342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Harris Corp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1.05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10.7%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89.3%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0.980</a:t>
                      </a:r>
                    </a:p>
                  </a:txBody>
                  <a:tcP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Nortel Networks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20.7%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79.3%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1.513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Plantronics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0.2%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99.8%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1.199</a:t>
                      </a:r>
                    </a:p>
                  </a:txBody>
                  <a:tcP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Scientific-Atlanta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0.1%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99.9%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1.449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EMC Corp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0.4%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99.6%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1.546</a:t>
                      </a:r>
                    </a:p>
                  </a:txBody>
                  <a:tcP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HP Corp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92.2%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1.380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IBM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8.4%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91.6%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1.043</a:t>
                      </a:r>
                    </a:p>
                  </a:txBody>
                  <a:tcP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Lexmark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98.6%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1.140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NCR Corp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4.5%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95.5%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1.167</a:t>
                      </a:r>
                    </a:p>
                  </a:txBody>
                  <a:tcP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Seagate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1.125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Average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1.336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8.59%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91.41%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/>
                        <a:t>1.244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280160"/>
            <a:ext cx="3749039" cy="40233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Target D/V = 8.59%
E/V = 91.41%
D/E = 0.094
Re-levered βL:
1.244×1.056 = 1.315
Cost of Equity:
4.62%+1.315×5.50% = 11.85%
Cost of Debt (BB):
7.47%  (Exhibit 4)
WACC:
0.9141×11.85%+0.0859×7.47%×0.6
= 10.83%+0.39%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440680"/>
            <a:ext cx="11612880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4864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P&amp;S WACC = 11.22%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80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ROC = 11.00%  →  Spread = −0.22%  (value destroying)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54406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11.22%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WACC Summary — Corporate vs.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All figures from case Exhibits 1, 3 &amp; 4; ROC from case text page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Telecom Services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Products &amp; Systems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Corporate (Exhibit 1)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Comparables used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6 firms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14 firms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—</a:t>
                      </a:r>
                    </a:p>
                  </a:txBody>
                  <a:tcP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Avg. Unlevered Beta (βU)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0.856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1.244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Re-levered Beta (βL)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1.315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1.15</a:t>
                      </a:r>
                    </a:p>
                  </a:txBody>
                  <a:tcP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Cost of Equity (re)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10.33%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11.85%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10.95%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Cost of Debt (pre-tax)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5.74% (A)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7.47% (BB)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5.88% (A-/BBB+)</a:t>
                      </a:r>
                    </a:p>
                  </a:txBody>
                  <a:tcP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D/V Weight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26.25%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8.59%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22.2%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E/V Weight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73.75%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91.41%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77.8%</a:t>
                      </a:r>
                    </a:p>
                  </a:txBody>
                  <a:tcP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WACC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8.53%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9.30%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ROC (2004, case given)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9.10%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11.00%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~9.58%</a:t>
                      </a:r>
                    </a:p>
                  </a:txBody>
                  <a:tcP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Spread (ROC − WACC)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+0.57%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−0.22% 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+0.28%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Annual EVA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+$65.5M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−$10.0M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+$55.5M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F3964"/>
                </a:solidFill>
              </a:rPr>
              <a:t>Cross-check: 0.75 × 8.53% + 0.25 × 11.22% = 9.21% ≈ 9.30% corporate WACC 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Q.a — Single vs. Risk-Adjusted Hurdle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The Security Market Line (SML) reveals systematic decision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3035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964"/>
                </a:solidFill>
              </a:rPr>
              <a:t>Expected Return
  |
12%|                    P&amp;S true WACC
  |              ─────── 11.22% ──────────
11%|─────────────────────────── P&amp;S ROC = 11.00%
  |   (P&amp;S appears GOOD at corp hurdle!)
  |
9.3%│─ Corp hurdle ──────────────────────────
  |
9.1%│──── Telecom ROC ──────────
  |   (Telecom appears BELOW hurdle!)
  |
8.5%│ Telecom true WACC = 8.53%
  │────────────────────────────
  └────────────────────────────
    Telecom (β=1.04)  P&amp;S (β=1.32)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1280160"/>
          <a:ext cx="6217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Uniform Rate Says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Risk-Adj. Rate Says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Telecom IRR = 9.00%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REJECT (&lt; 9.30%)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ACCEPT (&gt; 8.53%)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Type I ✗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Telecom IRR = 8.80%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REJECT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ACCEPT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Type I 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P&amp;S IRR = 10.50%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ACCEPT (&gt; 9.30%)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REJECT (&lt; 11.22%)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Type II ✗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P&amp;S IRR = 9.80%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ACCEPT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REJECT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Type II 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0" y="356616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 i="0">
                <a:solidFill>
                  <a:srgbClr val="C00000"/>
                </a:solidFill>
              </a:rPr>
              <a:t>• Telecom ROC 9.10% &lt; corp hurdle 9.30% → appears to DESTROY value</a:t>
            </a:r>
          </a:p>
          <a:p>
            <a:pPr/>
            <a:r>
              <a:rPr sz="1100" b="1" i="0">
                <a:solidFill>
                  <a:srgbClr val="C00000"/>
                </a:solidFill>
              </a:rPr>
              <a:t>• P&amp;S ROC 11.00% &gt; corp hurdle 9.30% → appears to CREATE value (+1.70%)</a:t>
            </a:r>
          </a:p>
          <a:p>
            <a:pPr/>
            <a:r>
              <a:rPr sz="1100" b="1" i="0">
                <a:solidFill>
                  <a:srgbClr val="378644"/>
                </a:solidFill>
              </a:rPr>
              <a:t>• Risk-adjusted truth: OPPOSITE conclusion — Telecom creates value, P&amp;S destroys it</a:t>
            </a:r>
          </a:p>
          <a:p>
            <a:pPr/>
            <a:r>
              <a:rPr sz="1100" b="0" i="0">
                <a:solidFill>
                  <a:srgbClr val="1F3964"/>
                </a:solidFill>
              </a:rPr>
              <a:t>• The uniform rate produces EXACTLY the WRONG strategic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Q.c — Economic Value Added (EVA)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EVA = (ROC − WACC_segment) × Invested Capital (Book)  |  Capital from case text page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ROC (given)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Segment WACC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Spread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Capital (BV)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Annual EVA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Telecom Services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9.10%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8.53%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+0.57%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$11.4B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+$65.5M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Products &amp; Systems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11.00%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−0.22%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$4.6B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−$10.0M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Total / 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—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—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—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$16.0B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+$55.5M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337560"/>
            <a:ext cx="5486400" cy="18288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Telecom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CREATES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+$65.5M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ROC 9.10%  &gt;  WACC 8.53%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337560"/>
            <a:ext cx="5486400" cy="1828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Products &amp;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DESTROYS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−$10.0M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709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ROC 11.00%  &lt;  WACC 11.22%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11247120" cy="7772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7667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Yossarian is directionally correct. However, P&amp;S ROC (11.00%) is very close to its WACC (11.22%).  Margin = −22 bps — an improvement target, not necessarily a divestiture case.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Q.c — Why TeleTech Should Implement Risk-Adjusted Hurdle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Financial theory + EVA evidence make the case unambiguous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822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37160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</a:rPr>
              <a:t>Capital Theory (Chapter 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10512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WACC must reflect the risk of the specific asset/division — not a firm-wide average. The corporate WACC is only appropriate for assets of equal risk to the whole company.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70048"/>
            <a:ext cx="822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8529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670048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157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</a:rPr>
              <a:t>Capital Budgeting (Chapter 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08960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Using a wrong discount rate produces systematic NPV errors. P&amp;S projects with IRR between 9.30%–11.22% pass the current hurdle but are value-destroying.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68496"/>
            <a:ext cx="822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513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3968496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014215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</a:rPr>
              <a:t>EVA Evidence — The Numbers Confirm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07408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P&amp;S destroys –$10M/year under risk-adjusted rates, yet appears profitable (+$77M) under corporate rates. The thermometer doesn't cause the fever — it reveals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66944"/>
            <a:ext cx="822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44982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5266944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312664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</a:rPr>
              <a:t>Capital Reallocation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05856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</a:rPr>
              <a:t>Adopting segment WACCs would stop bad P&amp;S projects and unlock Telecom projects with IRR 8.53–9.30% — currently rejected despite creating genuine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Q.d — Four Major Barriers to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Why the theoretically correct approach is hard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69280" cy="2377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Political
Resistance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03120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P&amp;S leadership (Buono) will lobby against a higher hurdle
• Board reluctant to admit prior allocation errors
• P&amp;S currently looks profitable — why change?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669280" cy="2377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Technical
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Beta estimates are noisy; P&amp;S β_U could range 1.0–1.5
• Comparable firm selection is inherently subjective
• Corporate debt allocation to segments is judgmental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669280" cy="2377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9319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Incentive
Misalignment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617720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Compensation systems tied to old 9.30% benchmarks
• Higher P&amp;S hurdle may trigger short-term R&amp;D cuts
• Culture change requires CEO &amp; board sponsorship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669280" cy="237744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Organizational
Change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617720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Education: every manager must understand the new system
• IT/finance systems recalibration required
• Annual re-estimation of segment betas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Sensitivity Analysis — Robustness of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How sensitive are the results to MRP and beta estimation?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</a:rPr>
              <a:t>Sensitivity 1: WACC vs. Market Risk Premium (MRP)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73736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MRP Assumption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Telecom WACC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P&amp;S WACC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WACC Gap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P&amp;S Verdict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4.5%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7.91%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10.53%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2.62%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Destroying (−0.53%)</a:t>
                      </a: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10.87%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2.65%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Destroying (−0.87%)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5.5% (base)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8.53%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11.22%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2.69%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Destroying (−0.22%)</a:t>
                      </a: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6.0%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8.84%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11.56%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2.72%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Destroying (−0.56%)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6.5%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9.16%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11.91%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2.75%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Destroying (−0.91%)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114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3964"/>
                </a:solidFill>
              </a:rPr>
              <a:t>Note: P&amp;S ROC = 11.00%. P&amp;S destroys value under all MRP scenarios shown.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</a:rPr>
              <a:t>Sensitivity 2: P&amp;S WACC vs. β_U Estimate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P&amp;S Avg β_U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β_L (relevered)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P&amp;S WACC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Spread (ROC=11%)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1.10 (low)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1.162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10.52%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+0.48%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Creating value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1.24 (base)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1.315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11.22%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−0.22%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Destroying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1.40 (high)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1.481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12.37%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−1.37%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Destroying value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3964"/>
                </a:solidFill>
              </a:rPr>
              <a:t>Conclusion: P&amp;S is at the margin — the case for value destruction is robust but not overwhelmingly large.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TeleTech must adopt risk-adjusted hurdle rates — the evidence is clear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a. Hurdle Rate Choice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Uniform 9.30% creates wrong signals: P&amp;S appears profitable; Telecom appears below hurdle</a:t>
                      </a:r>
                    </a:p>
                  </a:txBody>
                  <a:tcPr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b. Segment WACC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Telecom: 8.53%  |  P&amp;S: 11.22%  (vs. blended 9.30%)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c. Value Creation (EVA)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P&amp;S destroys −$10M/yr; Telecom creates +$65.5M/yr; net EVA = +$55.5M/yr</a:t>
                      </a:r>
                    </a:p>
                  </a:txBody>
                  <a:tcPr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d. Barriers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Political resistance, beta subjectivity, incentive misalignment, change management costs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</a:rPr>
              <a:t>Recommended Action Plan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77639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Immediate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Adopt risk-adjusted hurdle rates: Telecom 8.53%, P&amp;S 11.22%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Q1 2006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Short-term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Recalibrate management compensation to EVA with segment WACCs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Q2 2006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Medium-term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Strategic review of P&amp;S: set ROIC improvement targets or divest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2006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Ongoing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Annual beta refresh using Exhibit 3-style comparable analysis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Annual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8932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Yossarian is right to challenge TeleTech's capital allocation. But divestiture of P&amp;S may be premature — improving ROIC above 11.22% is achievable with disciplined capital allocation under risk-adjusted hurdle rates.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8C00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Key Numbers:
  Corporate WACC = 9.30%  |  Telecom WACC = 8.53%  |  P&amp;S WACC = 11.22%
  Telecom EVA = +$65.5M/yr  |  P&amp;S EVA = −$10.0M/yr  |  Net EVA = +$55.5M/yr
  All figures sourced from Exhibits 1, 3 &amp; 4 of the case (UV1375)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Rangxila GONG  |  Huihui LIU  |  Haiyun ZOU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2F2F2"/>
                </a:solidFill>
              </a:rPr>
              <a:t>MFE 5231 Financial Management  |  CUHK(Shenzhen)  |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